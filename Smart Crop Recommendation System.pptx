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6" r:id="rId4"/>
  </p:sldMasterIdLst>
  <p:notesMasterIdLst>
    <p:notesMasterId r:id="rId19"/>
  </p:notesMasterIdLst>
  <p:handoutMasterIdLst>
    <p:handoutMasterId r:id="rId20"/>
  </p:handoutMasterIdLst>
  <p:sldIdLst>
    <p:sldId id="256" r:id="rId5"/>
    <p:sldId id="262" r:id="rId6"/>
    <p:sldId id="276" r:id="rId7"/>
    <p:sldId id="275" r:id="rId8"/>
    <p:sldId id="272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6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E2384-1C8C-4C5F-B3CB-703E0B83C4E1}" v="35" dt="2026-01-22T15:34:24.2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45E872-1A40-4FE7-986C-59F628C1EA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F5374-08E9-4C85-B7A7-3F19604B53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06F1-B57D-406B-8F09-B1FDC0D0B1F3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FACC5-BCFD-4649-8006-C71939BACE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46B17-7076-4944-A4A2-FD49936A33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EDE44-B1FC-494A-A972-62DC7CABB2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689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7F2BD-238E-42D0-B670-F788A50DBDE8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8DF69-FFB1-4D3A-9D8C-5887E79674D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76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557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E8DF69-FFB1-4D3A-9D8C-5887E79674D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139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AB3A824-1A51-4B26-AD58-A6D8E14F6C04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78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03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3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167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1C18-307B-4F68-A007-B5B542270E8D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33525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542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82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838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084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552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4763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CBC1C18-307B-4F68-A007-B5B542270E8D}" type="datetimeFigureOut">
              <a:rPr lang="en-US" noProof="0" smtClean="0"/>
              <a:t>1/22/2026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225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ixabay.com/de/illustrations/vielen-dank-gru%C3%9F-karte-nachricht-94408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Straight Connector 41">
            <a:extLst>
              <a:ext uri="{FF2B5EF4-FFF2-40B4-BE49-F238E27FC236}">
                <a16:creationId xmlns:a16="http://schemas.microsoft.com/office/drawing/2014/main" id="{63FED537-3AF1-4C36-9904-77B6A54D2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78660" y="5462458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50E78D6-F072-48E7-8270-20EFBDD26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609" y="2357646"/>
            <a:ext cx="9966960" cy="132588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Smart Crop Recommendation System</a:t>
            </a:r>
            <a:br>
              <a:rPr lang="en-US" sz="3600" dirty="0">
                <a:solidFill>
                  <a:schemeClr val="tx1"/>
                </a:solidFill>
              </a:rPr>
            </a:br>
            <a:br>
              <a:rPr lang="en-US" sz="3600" dirty="0">
                <a:solidFill>
                  <a:schemeClr val="tx1"/>
                </a:solidFill>
              </a:rPr>
            </a:br>
            <a:r>
              <a:rPr lang="en-US" sz="2800" dirty="0"/>
              <a:t>Mini Project (AI / ML)</a:t>
            </a:r>
            <a:br>
              <a:rPr lang="en-US" sz="2800" dirty="0"/>
            </a:br>
            <a:br>
              <a:rPr lang="en-US" sz="2800" dirty="0"/>
            </a:br>
            <a:r>
              <a:rPr lang="en-US" sz="2000" dirty="0"/>
              <a:t>Developed using Machine Learning &amp; Web Technologies</a:t>
            </a:r>
            <a:br>
              <a:rPr lang="en-US" sz="2000" dirty="0"/>
            </a:br>
            <a:endParaRPr lang="en-US" sz="3200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7BD98-5486-489C-BAA0-A69CEFF69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867" y="4091940"/>
            <a:ext cx="8767860" cy="553690"/>
          </a:xfrm>
        </p:spPr>
        <p:txBody>
          <a:bodyPr>
            <a:normAutofit fontScale="25000" lnSpcReduction="20000"/>
          </a:bodyPr>
          <a:lstStyle/>
          <a:p>
            <a:r>
              <a:rPr lang="en-IN" sz="14400" dirty="0"/>
              <a:t>Team Members</a:t>
            </a:r>
            <a:r>
              <a:rPr lang="en-IN" sz="11200" dirty="0"/>
              <a:t>: </a:t>
            </a:r>
            <a:r>
              <a:rPr lang="en-IN" sz="11200" dirty="0" err="1"/>
              <a:t>V.Madhumitha</a:t>
            </a:r>
            <a:endParaRPr lang="en-IN" sz="11200" dirty="0"/>
          </a:p>
          <a:p>
            <a:r>
              <a:rPr lang="en-IN" sz="11200" dirty="0"/>
              <a:t>                                   </a:t>
            </a:r>
            <a:r>
              <a:rPr lang="en-IN" sz="11200" dirty="0" err="1"/>
              <a:t>P.Boomika</a:t>
            </a:r>
            <a:endParaRPr lang="en-IN" sz="11200" dirty="0"/>
          </a:p>
          <a:p>
            <a:r>
              <a:rPr lang="en-IN" sz="11200" dirty="0"/>
              <a:t>                               </a:t>
            </a:r>
            <a:r>
              <a:rPr lang="en-IN" sz="11200" dirty="0" err="1"/>
              <a:t>R.Aswini</a:t>
            </a:r>
            <a:endParaRPr lang="en-IN" sz="11200" dirty="0"/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4845A3-08ED-014F-A4B2-F59D2CFEEB01}"/>
              </a:ext>
            </a:extLst>
          </p:cNvPr>
          <p:cNvSpPr txBox="1"/>
          <p:nvPr/>
        </p:nvSpPr>
        <p:spPr>
          <a:xfrm>
            <a:off x="2814683" y="5627667"/>
            <a:ext cx="68188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Department</a:t>
            </a:r>
            <a:r>
              <a:rPr lang="en-IN" sz="2400" b="1" dirty="0"/>
              <a:t>:</a:t>
            </a:r>
            <a:r>
              <a:rPr lang="en-IN" sz="2400" dirty="0"/>
              <a:t> CSE / AI &amp; ML</a:t>
            </a:r>
            <a:br>
              <a:rPr lang="en-IN" sz="2400" dirty="0"/>
            </a:br>
            <a:r>
              <a:rPr lang="en-IN" sz="2400" b="1" dirty="0" err="1"/>
              <a:t>Institution</a:t>
            </a:r>
            <a:r>
              <a:rPr lang="en-IN" b="1" dirty="0" err="1"/>
              <a:t>:</a:t>
            </a:r>
            <a:r>
              <a:rPr lang="en-IN" sz="2400" b="1" dirty="0" err="1"/>
              <a:t>Dmi</a:t>
            </a:r>
            <a:r>
              <a:rPr lang="en-IN" sz="2400" b="1" dirty="0"/>
              <a:t> collage of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405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ABB9-DFF2-658C-1956-332FBED6B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9FFA6-1EE4-AD02-F95B-F6C5CB572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Agriculture plays a vital role in the economy.</a:t>
            </a:r>
          </a:p>
          <a:p>
            <a:r>
              <a:rPr lang="en-US" sz="2800" dirty="0">
                <a:solidFill>
                  <a:schemeClr val="tx1"/>
                </a:solidFill>
              </a:rPr>
              <a:t>Choosing the right crop is challenging due to soil and climate variations.</a:t>
            </a:r>
          </a:p>
          <a:p>
            <a:r>
              <a:rPr lang="en-US" sz="2800" dirty="0">
                <a:solidFill>
                  <a:schemeClr val="tx1"/>
                </a:solidFill>
              </a:rPr>
              <a:t>Farmers often lack data-driven decision support.</a:t>
            </a:r>
          </a:p>
          <a:p>
            <a:r>
              <a:rPr lang="en-US" sz="2800" dirty="0">
                <a:solidFill>
                  <a:schemeClr val="tx1"/>
                </a:solidFill>
              </a:rPr>
              <a:t>This prototype uses </a:t>
            </a:r>
            <a:r>
              <a:rPr lang="en-US" sz="2800" b="1" dirty="0">
                <a:solidFill>
                  <a:schemeClr val="tx1"/>
                </a:solidFill>
              </a:rPr>
              <a:t>Machine Learning</a:t>
            </a:r>
            <a:r>
              <a:rPr lang="en-US" sz="2800" dirty="0">
                <a:solidFill>
                  <a:schemeClr val="tx1"/>
                </a:solidFill>
              </a:rPr>
              <a:t> to recommend suitable crops and fertilizers.</a:t>
            </a:r>
          </a:p>
          <a:p>
            <a:r>
              <a:rPr lang="en-US" sz="2800" dirty="0">
                <a:solidFill>
                  <a:schemeClr val="tx1"/>
                </a:solidFill>
              </a:rPr>
              <a:t>Helps improve yield and reduce losses.</a:t>
            </a:r>
          </a:p>
          <a:p>
            <a:pPr marL="4572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74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CDEC5-1FB1-B181-7B31-98FC10F2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Problem Statement: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06BE0-34B8-AAF8-E28B-07B4452CB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Farmers select crops based on experience, not data.</a:t>
            </a:r>
          </a:p>
          <a:p>
            <a:r>
              <a:rPr lang="en-US" sz="2800" dirty="0">
                <a:solidFill>
                  <a:schemeClr val="tx1"/>
                </a:solidFill>
              </a:rPr>
              <a:t>Improper crop selection leads to: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*Low yield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*Soil degradation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*Financial loss</a:t>
            </a:r>
          </a:p>
          <a:p>
            <a:r>
              <a:rPr lang="en-US" sz="2800" dirty="0">
                <a:solidFill>
                  <a:schemeClr val="tx1"/>
                </a:solidFill>
              </a:rPr>
              <a:t>No simple system that combines </a:t>
            </a:r>
            <a:r>
              <a:rPr lang="en-US" sz="2800" b="1" dirty="0">
                <a:solidFill>
                  <a:schemeClr val="tx1"/>
                </a:solidFill>
              </a:rPr>
              <a:t>soil nutrients + climate data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r>
              <a:rPr lang="en-US" sz="2800" dirty="0">
                <a:solidFill>
                  <a:schemeClr val="tx1"/>
                </a:solidFill>
              </a:rPr>
              <a:t>Need for a </a:t>
            </a:r>
            <a:r>
              <a:rPr lang="en-US" sz="2800" b="1" dirty="0">
                <a:solidFill>
                  <a:schemeClr val="tx1"/>
                </a:solidFill>
              </a:rPr>
              <a:t>smart, user-friendly crop recommendation system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36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7DE0-DCA0-D22C-F4FA-08BA3365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Objective: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6BA65-679D-C363-3E4E-B333B6E83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To develop a </a:t>
            </a:r>
            <a:r>
              <a:rPr lang="en-IN" sz="2800" b="1" dirty="0">
                <a:solidFill>
                  <a:schemeClr val="tx1"/>
                </a:solidFill>
              </a:rPr>
              <a:t>Smart Crop Recommendation System</a:t>
            </a:r>
            <a:r>
              <a:rPr lang="en-IN" sz="2800" dirty="0">
                <a:solidFill>
                  <a:schemeClr val="tx1"/>
                </a:solidFill>
              </a:rPr>
              <a:t> prototype.</a:t>
            </a:r>
          </a:p>
          <a:p>
            <a:r>
              <a:rPr lang="en-IN" sz="2800" dirty="0">
                <a:solidFill>
                  <a:schemeClr val="tx1"/>
                </a:solidFill>
              </a:rPr>
              <a:t>To </a:t>
            </a:r>
            <a:r>
              <a:rPr lang="en-IN" sz="2800" dirty="0" err="1">
                <a:solidFill>
                  <a:schemeClr val="tx1"/>
                </a:solidFill>
              </a:rPr>
              <a:t>analyze</a:t>
            </a:r>
            <a:r>
              <a:rPr lang="en-IN" sz="2800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IN" sz="2800" dirty="0">
                <a:solidFill>
                  <a:schemeClr val="tx1"/>
                </a:solidFill>
              </a:rPr>
              <a:t>Soil parameters (N, P, K, pH)</a:t>
            </a:r>
          </a:p>
          <a:p>
            <a:pPr lvl="1"/>
            <a:r>
              <a:rPr lang="en-IN" sz="2800" dirty="0">
                <a:solidFill>
                  <a:schemeClr val="tx1"/>
                </a:solidFill>
              </a:rPr>
              <a:t>Environmental factors (temperature, humidity, rainfall)</a:t>
            </a:r>
          </a:p>
          <a:p>
            <a:r>
              <a:rPr lang="en-IN" sz="2800" dirty="0">
                <a:solidFill>
                  <a:schemeClr val="tx1"/>
                </a:solidFill>
              </a:rPr>
              <a:t>To recommend:</a:t>
            </a:r>
          </a:p>
          <a:p>
            <a:pPr lvl="1"/>
            <a:r>
              <a:rPr lang="en-IN" sz="2800" dirty="0">
                <a:solidFill>
                  <a:schemeClr val="tx1"/>
                </a:solidFill>
              </a:rPr>
              <a:t>Best suitable crop</a:t>
            </a:r>
          </a:p>
          <a:p>
            <a:pPr lvl="1"/>
            <a:r>
              <a:rPr lang="en-IN" sz="2800" dirty="0">
                <a:solidFill>
                  <a:schemeClr val="tx1"/>
                </a:solidFill>
              </a:rPr>
              <a:t>Appropriate fertilizer</a:t>
            </a:r>
          </a:p>
          <a:p>
            <a:r>
              <a:rPr lang="en-IN" sz="2800" dirty="0">
                <a:solidFill>
                  <a:schemeClr val="tx1"/>
                </a:solidFill>
              </a:rPr>
              <a:t>To provide a </a:t>
            </a:r>
            <a:r>
              <a:rPr lang="en-IN" sz="2800" b="1" dirty="0">
                <a:solidFill>
                  <a:schemeClr val="tx1"/>
                </a:solidFill>
              </a:rPr>
              <a:t>simple and farmer-friendly interface</a:t>
            </a:r>
            <a:r>
              <a:rPr lang="en-IN" sz="2800" dirty="0">
                <a:solidFill>
                  <a:schemeClr val="tx1"/>
                </a:solidFill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80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02E5-5283-998A-E11B-3AB12E41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System Architecture:</a:t>
            </a:r>
            <a:br>
              <a:rPr lang="en-IN" b="1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9D7CF-6671-1FDD-5626-8CE6B5670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tx1"/>
                </a:solidFill>
              </a:rPr>
              <a:t>User → UI → ML Model → Recommendation</a:t>
            </a:r>
            <a:endParaRPr lang="en-IN" sz="2800" dirty="0">
              <a:solidFill>
                <a:schemeClr val="tx1"/>
              </a:solidFill>
            </a:endParaRPr>
          </a:p>
          <a:p>
            <a:r>
              <a:rPr lang="en-IN" sz="2800" dirty="0">
                <a:solidFill>
                  <a:schemeClr val="tx1"/>
                </a:solidFill>
              </a:rPr>
              <a:t>User inputs soil &amp; climate data</a:t>
            </a:r>
          </a:p>
          <a:p>
            <a:r>
              <a:rPr lang="en-IN" sz="2800" dirty="0">
                <a:solidFill>
                  <a:schemeClr val="tx1"/>
                </a:solidFill>
              </a:rPr>
              <a:t>Data preprocessing</a:t>
            </a:r>
          </a:p>
          <a:p>
            <a:r>
              <a:rPr lang="en-IN" sz="2800" dirty="0">
                <a:solidFill>
                  <a:schemeClr val="tx1"/>
                </a:solidFill>
              </a:rPr>
              <a:t>Random Forest ML model prediction</a:t>
            </a:r>
          </a:p>
          <a:p>
            <a:r>
              <a:rPr lang="en-IN" sz="2800" dirty="0">
                <a:solidFill>
                  <a:schemeClr val="tx1"/>
                </a:solidFill>
              </a:rPr>
              <a:t>Crop &amp; fertilizer recommendation</a:t>
            </a:r>
          </a:p>
          <a:p>
            <a:r>
              <a:rPr lang="en-IN" sz="2800" dirty="0">
                <a:solidFill>
                  <a:schemeClr val="tx1"/>
                </a:solidFill>
              </a:rPr>
              <a:t>Results displayed in UI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358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147B-140A-7D05-3FF3-606B7CD02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986" y="410095"/>
            <a:ext cx="9875520" cy="135636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Technologies Used:</a:t>
            </a:r>
            <a:br>
              <a:rPr lang="en-IN" b="1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00AF8-7840-127E-0897-69A4038F7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3618" y="1766455"/>
            <a:ext cx="9872871" cy="403860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Lovable AI</a:t>
            </a:r>
          </a:p>
          <a:p>
            <a:r>
              <a:rPr lang="en-IN" sz="2800" dirty="0">
                <a:solidFill>
                  <a:schemeClr val="tx1"/>
                </a:solidFill>
              </a:rPr>
              <a:t>Prompt Engineering</a:t>
            </a:r>
          </a:p>
          <a:p>
            <a:r>
              <a:rPr lang="en-IN" sz="2800" dirty="0">
                <a:solidFill>
                  <a:schemeClr val="tx1"/>
                </a:solidFill>
              </a:rPr>
              <a:t>UI/UX Design</a:t>
            </a:r>
          </a:p>
          <a:p>
            <a:r>
              <a:rPr lang="en-IN" sz="2800" dirty="0">
                <a:solidFill>
                  <a:schemeClr val="tx1"/>
                </a:solidFill>
              </a:rPr>
              <a:t>HTML &amp; CSS</a:t>
            </a:r>
          </a:p>
          <a:p>
            <a:r>
              <a:rPr lang="en-IN" sz="2800" dirty="0">
                <a:solidFill>
                  <a:schemeClr val="tx1"/>
                </a:solidFill>
              </a:rPr>
              <a:t>Random Forest (Concept)</a:t>
            </a:r>
          </a:p>
          <a:p>
            <a:r>
              <a:rPr lang="en-IN" sz="2800" dirty="0">
                <a:solidFill>
                  <a:schemeClr val="tx1"/>
                </a:solidFill>
              </a:rPr>
              <a:t>Python (Future Integration)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955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75CA-9EDE-6FC0-5D38-F120F9961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UI Screens Overview:</a:t>
            </a:r>
            <a:br>
              <a:rPr lang="en-IN" b="1" dirty="0">
                <a:solidFill>
                  <a:schemeClr val="tx1"/>
                </a:solidFill>
              </a:rPr>
            </a:b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CB096A-BA5A-E6F8-DB1A-AE2B5F5D8F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3480" y="1820882"/>
            <a:ext cx="755931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Splash Screen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Welcome / Onboarding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/ Registration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Home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Soil Input Page (N, P, K, pH)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Input Page (Temp, Humidity, Rainfall)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 Recommendation Result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Fertilizer Recommendation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History &amp; Profile Pages</a:t>
            </a:r>
          </a:p>
        </p:txBody>
      </p:sp>
    </p:spTree>
    <p:extLst>
      <p:ext uri="{BB962C8B-B14F-4D97-AF65-F5344CB8AC3E}">
        <p14:creationId xmlns:p14="http://schemas.microsoft.com/office/powerpoint/2010/main" val="3528098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710E-EAFD-BC63-146E-225ABD11E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Algorithm – Random Forest: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D81FE-65E7-B2C1-1654-B38D092BF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Random Forest is an </a:t>
            </a:r>
            <a:r>
              <a:rPr lang="en-US" sz="2800" b="1" dirty="0">
                <a:solidFill>
                  <a:schemeClr val="tx1"/>
                </a:solidFill>
              </a:rPr>
              <a:t>ensemble learning algorithm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r>
              <a:rPr lang="en-US" sz="2800" dirty="0">
                <a:solidFill>
                  <a:schemeClr val="tx1"/>
                </a:solidFill>
              </a:rPr>
              <a:t>It creates multiple decision trees.</a:t>
            </a:r>
          </a:p>
          <a:p>
            <a:r>
              <a:rPr lang="en-US" sz="2800" dirty="0">
                <a:solidFill>
                  <a:schemeClr val="tx1"/>
                </a:solidFill>
              </a:rPr>
              <a:t>Each tree gives a prediction.</a:t>
            </a:r>
          </a:p>
          <a:p>
            <a:r>
              <a:rPr lang="en-US" sz="2800" dirty="0">
                <a:solidFill>
                  <a:schemeClr val="tx1"/>
                </a:solidFill>
              </a:rPr>
              <a:t>Final output is based on majority voting.</a:t>
            </a:r>
          </a:p>
          <a:p>
            <a:r>
              <a:rPr lang="en-US" sz="2800" dirty="0">
                <a:solidFill>
                  <a:schemeClr val="tx1"/>
                </a:solidFill>
              </a:rPr>
              <a:t>Advantages: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High accuracy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Reduces overfitting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Works well with agricultural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5442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1629-6223-4160-82E1-41E4F083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Result &amp; Output: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8003B-2142-FA6F-1A3B-B9FF8DC75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System successfully predicts suitable crops.</a:t>
            </a:r>
          </a:p>
          <a:p>
            <a:r>
              <a:rPr lang="en-US" sz="2800" dirty="0">
                <a:solidFill>
                  <a:schemeClr val="tx1"/>
                </a:solidFill>
              </a:rPr>
              <a:t>Displays: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Recommended crop name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Suitability score</a:t>
            </a:r>
          </a:p>
          <a:p>
            <a:pPr lvl="1"/>
            <a:r>
              <a:rPr lang="en-US" sz="2800" dirty="0">
                <a:solidFill>
                  <a:schemeClr val="tx1"/>
                </a:solidFill>
              </a:rPr>
              <a:t>Fertilizer suggestion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User gets instant, data-driven decisions.</a:t>
            </a:r>
          </a:p>
          <a:p>
            <a:r>
              <a:rPr lang="en-US" sz="2800" dirty="0">
                <a:solidFill>
                  <a:schemeClr val="tx1"/>
                </a:solidFill>
              </a:rPr>
              <a:t>Improves crop selection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1433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DF49-4866-9868-FCF7-985E0923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Advantages: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DA190-F443-79D4-9520-DC9BFAAEE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Easy to use</a:t>
            </a:r>
          </a:p>
          <a:p>
            <a:r>
              <a:rPr lang="en-US" sz="2800" dirty="0">
                <a:solidFill>
                  <a:schemeClr val="tx1"/>
                </a:solidFill>
              </a:rPr>
              <a:t>Data-driven crop selection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Improves agricultural productivity</a:t>
            </a:r>
          </a:p>
          <a:p>
            <a:r>
              <a:rPr lang="en-US" sz="2800" dirty="0">
                <a:solidFill>
                  <a:schemeClr val="tx1"/>
                </a:solidFill>
              </a:rPr>
              <a:t>Reduces farmer risk</a:t>
            </a:r>
          </a:p>
          <a:p>
            <a:r>
              <a:rPr lang="en-US" sz="2800" dirty="0">
                <a:solidFill>
                  <a:schemeClr val="tx1"/>
                </a:solidFill>
              </a:rPr>
              <a:t>Supports sustainable farming</a:t>
            </a:r>
          </a:p>
          <a:p>
            <a:r>
              <a:rPr lang="en-US" sz="2800" dirty="0">
                <a:solidFill>
                  <a:schemeClr val="tx1"/>
                </a:solidFill>
              </a:rPr>
              <a:t>Government and </a:t>
            </a:r>
            <a:r>
              <a:rPr lang="en-US" sz="2800" dirty="0" err="1">
                <a:solidFill>
                  <a:schemeClr val="tx1"/>
                </a:solidFill>
              </a:rPr>
              <a:t>agri</a:t>
            </a:r>
            <a:r>
              <a:rPr lang="en-US" sz="2800" dirty="0">
                <a:solidFill>
                  <a:schemeClr val="tx1"/>
                </a:solidFill>
              </a:rPr>
              <a:t>-sector friendly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03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5CE6-1740-B414-C6B0-E24E84802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Applications: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7B639-52B5-7468-B70E-8125825D6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621" y="2373284"/>
            <a:ext cx="9872871" cy="403860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Farmers</a:t>
            </a:r>
          </a:p>
          <a:p>
            <a:r>
              <a:rPr lang="en-US" sz="2800" dirty="0">
                <a:solidFill>
                  <a:schemeClr val="tx1"/>
                </a:solidFill>
              </a:rPr>
              <a:t>Agricultural advisory systems</a:t>
            </a:r>
          </a:p>
          <a:p>
            <a:r>
              <a:rPr lang="en-US" sz="2800" dirty="0">
                <a:solidFill>
                  <a:schemeClr val="tx1"/>
                </a:solidFill>
              </a:rPr>
              <a:t>Smart farming solutions</a:t>
            </a:r>
          </a:p>
          <a:p>
            <a:r>
              <a:rPr lang="en-US" sz="2800" dirty="0">
                <a:solidFill>
                  <a:schemeClr val="tx1"/>
                </a:solidFill>
              </a:rPr>
              <a:t>Government agriculture departments</a:t>
            </a:r>
          </a:p>
          <a:p>
            <a:r>
              <a:rPr lang="en-US" sz="2800" dirty="0">
                <a:solidFill>
                  <a:schemeClr val="tx1"/>
                </a:solidFill>
              </a:rPr>
              <a:t>Agriculture students &amp; researchers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6552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C7598-0D4A-E8D8-5FF7-4FCFE79C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Future Enhancements: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07EEC-FF60-4D3A-0D3B-310C45FE5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Real-time weather API integration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Multi-language support</a:t>
            </a:r>
          </a:p>
          <a:p>
            <a:r>
              <a:rPr lang="en-US" sz="2800" dirty="0">
                <a:solidFill>
                  <a:schemeClr val="tx1"/>
                </a:solidFill>
              </a:rPr>
              <a:t>Mobile application version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Crop disease prediction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Market price prediction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IoT-based soil sensor integration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023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D46E-34F7-8E19-0737-05FBD08A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0F9ED-E8B0-8BC9-96DD-42620A9A7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Smart Crop Recommendation System provides intelligent farming support.</a:t>
            </a:r>
          </a:p>
          <a:p>
            <a:r>
              <a:rPr lang="en-IN" sz="2800" dirty="0">
                <a:solidFill>
                  <a:schemeClr val="tx1"/>
                </a:solidFill>
              </a:rPr>
              <a:t>Combines </a:t>
            </a:r>
            <a:r>
              <a:rPr lang="en-IN" sz="2800" b="1" dirty="0">
                <a:solidFill>
                  <a:schemeClr val="tx1"/>
                </a:solidFill>
              </a:rPr>
              <a:t>UI design + ML prediction</a:t>
            </a:r>
            <a:r>
              <a:rPr lang="en-IN" sz="2800" dirty="0">
                <a:solidFill>
                  <a:schemeClr val="tx1"/>
                </a:solidFill>
              </a:rPr>
              <a:t>.</a:t>
            </a:r>
          </a:p>
          <a:p>
            <a:r>
              <a:rPr lang="en-IN" sz="2800" dirty="0">
                <a:solidFill>
                  <a:schemeClr val="tx1"/>
                </a:solidFill>
              </a:rPr>
              <a:t>Helps farmers make informed decisions.</a:t>
            </a:r>
          </a:p>
          <a:p>
            <a:r>
              <a:rPr lang="en-IN" sz="2800" dirty="0">
                <a:solidFill>
                  <a:schemeClr val="tx1"/>
                </a:solidFill>
              </a:rPr>
              <a:t>Prototype demonstrates real-world applicability.</a:t>
            </a:r>
          </a:p>
          <a:p>
            <a:r>
              <a:rPr lang="en-IN" sz="2800" dirty="0">
                <a:solidFill>
                  <a:schemeClr val="tx1"/>
                </a:solidFill>
              </a:rPr>
              <a:t>Can be expanded into a full-scale smart agriculture system.</a:t>
            </a:r>
          </a:p>
        </p:txBody>
      </p:sp>
    </p:spTree>
    <p:extLst>
      <p:ext uri="{BB962C8B-B14F-4D97-AF65-F5344CB8AC3E}">
        <p14:creationId xmlns:p14="http://schemas.microsoft.com/office/powerpoint/2010/main" val="3900872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3DC42C2-6B58-404C-B339-2C72808A5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F82941-5589-49BF-B6B1-76122B2D0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00" y="243840"/>
            <a:ext cx="11724640" cy="637793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14F7A5-A6B5-A133-4F06-F87AACE70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226060" y="277108"/>
            <a:ext cx="11732259" cy="637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3618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8ADAB2-5713-4CC8-B21C-AD74ED6A7D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D3DDD6-8E74-4DF3-A7C9-6234C7DB3E7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DEF0D866-2B5B-42FA-BA6C-C5A2A7495C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Tourism design</Template>
  <TotalTime>72</TotalTime>
  <Words>485</Words>
  <Application>Microsoft Office PowerPoint</Application>
  <PresentationFormat>Widescreen</PresentationFormat>
  <Paragraphs>97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Corbel</vt:lpstr>
      <vt:lpstr>Basis</vt:lpstr>
      <vt:lpstr>Smart Crop Recommendation System  Mini Project (AI / ML)  Developed using Machine Learning &amp; Web Technologies </vt:lpstr>
      <vt:lpstr>Introduction:</vt:lpstr>
      <vt:lpstr>Problem Statement:</vt:lpstr>
      <vt:lpstr>Objective:</vt:lpstr>
      <vt:lpstr>System Architecture: </vt:lpstr>
      <vt:lpstr>Technologies Used: </vt:lpstr>
      <vt:lpstr>UI Screens Overview: </vt:lpstr>
      <vt:lpstr>Algorithm – Random Forest:</vt:lpstr>
      <vt:lpstr>Result &amp; Output:</vt:lpstr>
      <vt:lpstr>Advantages:</vt:lpstr>
      <vt:lpstr>Applications:</vt:lpstr>
      <vt:lpstr>Future Enhancements: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Madhumitha Venkatesan</dc:creator>
  <cp:lastModifiedBy>Madhumitha Venkatesan</cp:lastModifiedBy>
  <cp:revision>2</cp:revision>
  <dcterms:created xsi:type="dcterms:W3CDTF">2026-01-22T14:23:59Z</dcterms:created>
  <dcterms:modified xsi:type="dcterms:W3CDTF">2026-01-22T15:40:46Z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